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36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26CE5-E962-03B1-2A83-C825C78E7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9E881E-3FC3-FB2B-0C6A-86FC73EB1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D6E35-4D5F-FE5B-F084-25C4FAB9F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5995-62C2-4866-9606-5D4EA0DD53C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01D08-9F31-1828-5B8C-9A0A7EF39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0CA44-56F1-C700-F715-BE1D49482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5C45-7119-43FE-9539-AEE416F9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578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B02B-212B-4B13-BF9B-40A91522A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A6FED-0354-062A-00CC-CF4E7CE45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5C06F-BC2B-5945-2B08-0896888AF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5995-62C2-4866-9606-5D4EA0DD53C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06B00-6760-8E57-B19A-0A8FD7F2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6B9F5-2F2B-76B7-4594-69CB4F9DD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5C45-7119-43FE-9539-AEE416F9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144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A90B-8601-89D3-7D3F-C3DCE8D5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3653C-D507-4BAD-6E62-99717418C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717FD-DBF3-A892-8ACA-C85D43DB5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5995-62C2-4866-9606-5D4EA0DD53C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8949F-C8DF-554E-C1B1-F3827582B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C00E6-9A6D-856A-4DFA-4EF880464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5C45-7119-43FE-9539-AEE416F9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87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295FC-2A57-6EFB-5B3D-FCDB361B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B1A5F-5996-C562-3C58-9D17FBC7DA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62875-2290-4837-CD26-524908DE8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69D0C-F802-94B0-0AED-CFE214626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5995-62C2-4866-9606-5D4EA0DD53C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81AF7-145D-AAF4-7776-F458C889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3F225-467D-3466-802C-9A0F93D2B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5C45-7119-43FE-9539-AEE416F9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58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E8BE6-7DAA-3956-A90C-28DB941DF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AA4BF-D8FE-589C-A343-36E998F8C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FBADC-4B08-48D1-2083-863A28A40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3E925B-BBAA-4BE7-EC1F-BC33955FFA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5AA0AE-2D48-8E1F-F4C2-5094459E5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99FE33-0F3B-63E7-4D59-3F54FE37C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5995-62C2-4866-9606-5D4EA0DD53C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BB4CC-2D81-B21C-CAC6-364DFDDD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90855C-E5BA-9F40-3CF6-5F0DE056E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5C45-7119-43FE-9539-AEE416F9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967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65ACD-613B-138A-2F79-786EEE12E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A8E51D-2D4C-1191-150E-996C836BA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5995-62C2-4866-9606-5D4EA0DD53C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A620B9-B0BE-F093-7BFC-895987122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10957-42B3-9E5A-9248-7FC7151D0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5C45-7119-43FE-9539-AEE416F9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196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C42040-23FD-1521-3CD8-5CAB1D429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5995-62C2-4866-9606-5D4EA0DD53C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924C46-BBE9-83A8-450D-CEB2A2B3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CC080-ECB4-A503-AE10-03B21E3A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5C45-7119-43FE-9539-AEE416F9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643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F4E32-8811-E819-D61E-E1C2FACC0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B5328-C2CB-66E1-08CC-FD509019D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70639-66E9-BA32-F2D2-9BDAE4DF7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0B81A-D4E9-3ED3-6C75-280FE6CE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5995-62C2-4866-9606-5D4EA0DD53C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6DD4A-FAE6-40DB-BD5D-BE956B834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39C9E-4C08-6160-D1A8-B4FB1581A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5C45-7119-43FE-9539-AEE416F9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40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6D5FA-5CD3-D79C-7C67-B2886F3D3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CEB6BF-EFAD-4635-07A4-A14B89D6E9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B0CA49-2686-F33E-7A76-D567D21A2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6EE93-9E31-0069-E146-AA55FE4E1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5995-62C2-4866-9606-5D4EA0DD53C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597D3-B4F3-57E4-CEC3-026F82EE5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938FA-BEB2-49CB-5D0E-AA756783C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5C45-7119-43FE-9539-AEE416F9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949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F596-60B2-5989-B666-2BF589555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B00BE8-C82C-3484-C002-C4E32E1BC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2DCE8-E788-5898-A736-81A73D56F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5995-62C2-4866-9606-5D4EA0DD53C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CC8EB-4098-5E81-756A-B0293C31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BDBD1-6589-F17A-1B88-D6CD59EB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5C45-7119-43FE-9539-AEE416F9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496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387854-BE9C-5B91-4F96-84169C827F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27CF3-A0AF-A193-D153-DEC493E90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53484-3A58-B861-E260-7BB142250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5995-62C2-4866-9606-5D4EA0DD53C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71E1-C857-8F32-CE43-19061D994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D5FED-DEA1-2D9A-B0C3-92ECED82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5C45-7119-43FE-9539-AEE416F9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25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88EECD-7D61-C8C9-0594-4969D0C27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766FE-1667-A2B6-FD48-078E8AF55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81829-22A9-5590-0365-A10711BC9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F5995-62C2-4866-9606-5D4EA0DD53C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72E3B-5660-9F99-A202-E69E04705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A3499-D28A-143E-D438-E5CC8C3F0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45C45-7119-43FE-9539-AEE416F9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069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6677BA2-D0A6-BBD5-B235-DACD825F7B94}"/>
              </a:ext>
            </a:extLst>
          </p:cNvPr>
          <p:cNvCxnSpPr>
            <a:cxnSpLocks/>
          </p:cNvCxnSpPr>
          <p:nvPr/>
        </p:nvCxnSpPr>
        <p:spPr>
          <a:xfrm flipH="1">
            <a:off x="10157265" y="1638295"/>
            <a:ext cx="313838" cy="1311334"/>
          </a:xfrm>
          <a:prstGeom prst="line">
            <a:avLst/>
          </a:prstGeom>
          <a:ln w="28575"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26A529A-C60D-926B-3D83-9C4C87024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184" y="342043"/>
            <a:ext cx="11460480" cy="693610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002060"/>
                </a:solidFill>
                <a:latin typeface="Constantia" panose="02030602050306030303" pitchFamily="18" charset="0"/>
              </a:rPr>
              <a:t>Neural Combinatorial Optimization for Multi Agent Path Finding on Graphs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C0EA212-091D-A8A4-C8BB-9B93EA4B49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5760" y="4376928"/>
                <a:ext cx="2731008" cy="187756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IN" sz="1800" b="1" u="sng" dirty="0">
                    <a:latin typeface="Constantia" panose="02030602050306030303" pitchFamily="18" charset="0"/>
                  </a:rPr>
                  <a:t>Graphs</a:t>
                </a:r>
              </a:p>
              <a:p>
                <a:pPr algn="l"/>
                <a:r>
                  <a:rPr lang="en-IN" sz="1800" b="1" dirty="0"/>
                  <a:t> </a:t>
                </a:r>
                <a14:m>
                  <m:oMath xmlns:m="http://schemas.openxmlformats.org/officeDocument/2006/math">
                    <m:r>
                      <a:rPr lang="en-IN" sz="1800" b="1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18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1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b="1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IN" sz="18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800" b="1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IN" sz="18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800" b="1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IN" sz="1800" b="1" dirty="0">
                  <a:latin typeface="Constantia" panose="02030602050306030303" pitchFamily="18" charset="0"/>
                </a:endParaRPr>
              </a:p>
              <a:p>
                <a:pPr algn="l"/>
                <a:r>
                  <a:rPr lang="en-IN" sz="1800" b="1" dirty="0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1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sz="1800" b="1" dirty="0">
                    <a:latin typeface="Constantia" panose="02030602050306030303" pitchFamily="18" charset="0"/>
                  </a:rPr>
                  <a:t> </a:t>
                </a:r>
                <a:r>
                  <a:rPr lang="en-IN" sz="1800" dirty="0">
                    <a:latin typeface="Constantia" panose="02030602050306030303" pitchFamily="18" charset="0"/>
                  </a:rPr>
                  <a:t>: vertices</a:t>
                </a:r>
              </a:p>
              <a:p>
                <a:pPr algn="l"/>
                <a:r>
                  <a:rPr lang="en-IN" sz="1800" b="1" dirty="0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800" b="1" i="1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IN" sz="1800" b="1" dirty="0">
                    <a:latin typeface="Constantia" panose="02030602050306030303" pitchFamily="18" charset="0"/>
                  </a:rPr>
                  <a:t> </a:t>
                </a:r>
                <a:r>
                  <a:rPr lang="en-IN" sz="1800" dirty="0">
                    <a:latin typeface="Constantia" panose="02030602050306030303" pitchFamily="18" charset="0"/>
                  </a:rPr>
                  <a:t>: edges</a:t>
                </a:r>
              </a:p>
              <a:p>
                <a:pPr algn="l"/>
                <a:r>
                  <a:rPr lang="en-IN" sz="1800" b="1" dirty="0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800" b="1" i="1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IN" sz="1800" b="1" dirty="0">
                    <a:latin typeface="Constantia" panose="02030602050306030303" pitchFamily="18" charset="0"/>
                  </a:rPr>
                  <a:t> </a:t>
                </a:r>
                <a:r>
                  <a:rPr lang="en-IN" sz="1800" dirty="0">
                    <a:latin typeface="Constantia" panose="02030602050306030303" pitchFamily="18" charset="0"/>
                  </a:rPr>
                  <a:t>: weight on the edges</a:t>
                </a:r>
                <a:br>
                  <a:rPr lang="en-IN" sz="1800" b="1" dirty="0">
                    <a:latin typeface="Constantia" panose="02030602050306030303" pitchFamily="18" charset="0"/>
                  </a:rPr>
                </a:br>
                <a:endParaRPr lang="en-US" sz="1800" i="1" dirty="0">
                  <a:latin typeface="Constantia" panose="02030602050306030303" pitchFamily="18" charset="0"/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C0EA212-091D-A8A4-C8BB-9B93EA4B4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4376928"/>
                <a:ext cx="2731008" cy="1877568"/>
              </a:xfrm>
              <a:prstGeom prst="rect">
                <a:avLst/>
              </a:prstGeom>
              <a:blipFill>
                <a:blip r:embed="rId2"/>
                <a:stretch>
                  <a:fillRect l="-1786" t="-2922" b="-29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B1ED6EB-DF47-C1EA-0224-939A19DF1851}"/>
              </a:ext>
            </a:extLst>
          </p:cNvPr>
          <p:cNvSpPr txBox="1">
            <a:spLocks/>
          </p:cNvSpPr>
          <p:nvPr/>
        </p:nvSpPr>
        <p:spPr>
          <a:xfrm>
            <a:off x="3096768" y="4376928"/>
            <a:ext cx="3950208" cy="2257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800" b="1" u="sng" dirty="0">
                <a:latin typeface="Constantia" panose="02030602050306030303" pitchFamily="18" charset="0"/>
              </a:rPr>
              <a:t>Multi Agent Path Finding (MAPF)</a:t>
            </a:r>
          </a:p>
          <a:p>
            <a:pPr algn="l"/>
            <a:r>
              <a:rPr lang="en-IN" sz="1800" b="1" dirty="0">
                <a:latin typeface="Constantia" panose="02030602050306030303" pitchFamily="18" charset="0"/>
              </a:rPr>
              <a:t> </a:t>
            </a:r>
            <a:r>
              <a:rPr lang="en-IN" sz="1800" i="1" dirty="0">
                <a:latin typeface="Constantia" panose="02030602050306030303" pitchFamily="18" charset="0"/>
              </a:rPr>
              <a:t>A</a:t>
            </a:r>
            <a:r>
              <a:rPr lang="en-IN" sz="1800" i="1" baseline="-25000" dirty="0">
                <a:latin typeface="Constantia" panose="02030602050306030303" pitchFamily="18" charset="0"/>
              </a:rPr>
              <a:t>1</a:t>
            </a:r>
            <a:r>
              <a:rPr lang="en-IN" sz="1800" i="1" dirty="0">
                <a:latin typeface="Constantia" panose="02030602050306030303" pitchFamily="18" charset="0"/>
              </a:rPr>
              <a:t> , A</a:t>
            </a:r>
            <a:r>
              <a:rPr lang="en-IN" sz="1800" i="1" baseline="-25000" dirty="0">
                <a:latin typeface="Constantia" panose="02030602050306030303" pitchFamily="18" charset="0"/>
              </a:rPr>
              <a:t>2</a:t>
            </a:r>
            <a:r>
              <a:rPr lang="en-IN" sz="1800" i="1" dirty="0">
                <a:latin typeface="Constantia" panose="02030602050306030303" pitchFamily="18" charset="0"/>
              </a:rPr>
              <a:t> , … , A</a:t>
            </a:r>
            <a:r>
              <a:rPr lang="en-IN" sz="1800" i="1" baseline="-25000" dirty="0">
                <a:latin typeface="Constantia" panose="02030602050306030303" pitchFamily="18" charset="0"/>
              </a:rPr>
              <a:t>k</a:t>
            </a:r>
            <a:r>
              <a:rPr lang="en-IN" sz="1800" i="1" dirty="0">
                <a:latin typeface="Constantia" panose="02030602050306030303" pitchFamily="18" charset="0"/>
              </a:rPr>
              <a:t> </a:t>
            </a:r>
            <a:r>
              <a:rPr lang="en-IN" sz="1800" dirty="0">
                <a:latin typeface="Constantia" panose="02030602050306030303" pitchFamily="18" charset="0"/>
              </a:rPr>
              <a:t>: agents</a:t>
            </a:r>
            <a:endParaRPr lang="en-IN" sz="1800" b="1" i="1" dirty="0">
              <a:latin typeface="Constantia" panose="02030602050306030303" pitchFamily="18" charset="0"/>
            </a:endParaRPr>
          </a:p>
          <a:p>
            <a:pPr algn="l"/>
            <a:r>
              <a:rPr lang="en-IN" sz="1800" b="1" dirty="0">
                <a:latin typeface="Constantia" panose="02030602050306030303" pitchFamily="18" charset="0"/>
              </a:rPr>
              <a:t> </a:t>
            </a:r>
            <a:r>
              <a:rPr lang="en-IN" sz="1800" i="1" dirty="0">
                <a:latin typeface="Constantia" panose="02030602050306030303" pitchFamily="18" charset="0"/>
              </a:rPr>
              <a:t>s</a:t>
            </a:r>
            <a:r>
              <a:rPr lang="en-IN" sz="1800" i="1" baseline="-25000" dirty="0">
                <a:latin typeface="Constantia" panose="02030602050306030303" pitchFamily="18" charset="0"/>
              </a:rPr>
              <a:t>1</a:t>
            </a:r>
            <a:r>
              <a:rPr lang="en-IN" sz="1800" i="1" dirty="0">
                <a:latin typeface="Constantia" panose="02030602050306030303" pitchFamily="18" charset="0"/>
              </a:rPr>
              <a:t> , s</a:t>
            </a:r>
            <a:r>
              <a:rPr lang="en-IN" sz="1800" i="1" baseline="-25000" dirty="0">
                <a:latin typeface="Constantia" panose="02030602050306030303" pitchFamily="18" charset="0"/>
              </a:rPr>
              <a:t>2</a:t>
            </a:r>
            <a:r>
              <a:rPr lang="en-IN" sz="1800" i="1" dirty="0">
                <a:latin typeface="Constantia" panose="02030602050306030303" pitchFamily="18" charset="0"/>
              </a:rPr>
              <a:t> , … , </a:t>
            </a:r>
            <a:r>
              <a:rPr lang="en-IN" sz="1800" i="1" dirty="0" err="1">
                <a:latin typeface="Constantia" panose="02030602050306030303" pitchFamily="18" charset="0"/>
              </a:rPr>
              <a:t>s</a:t>
            </a:r>
            <a:r>
              <a:rPr lang="en-IN" sz="1800" i="1" baseline="-25000" dirty="0" err="1">
                <a:latin typeface="Constantia" panose="02030602050306030303" pitchFamily="18" charset="0"/>
              </a:rPr>
              <a:t>k</a:t>
            </a:r>
            <a:r>
              <a:rPr lang="en-IN" sz="1800" i="1" dirty="0">
                <a:latin typeface="Constantia" panose="02030602050306030303" pitchFamily="18" charset="0"/>
              </a:rPr>
              <a:t> </a:t>
            </a:r>
            <a:r>
              <a:rPr lang="en-IN" sz="1800" dirty="0">
                <a:latin typeface="Constantia" panose="02030602050306030303" pitchFamily="18" charset="0"/>
              </a:rPr>
              <a:t>: starting</a:t>
            </a:r>
          </a:p>
          <a:p>
            <a:pPr algn="l"/>
            <a:r>
              <a:rPr lang="en-IN" sz="1800" i="1" dirty="0">
                <a:latin typeface="Constantia" panose="02030602050306030303" pitchFamily="18" charset="0"/>
              </a:rPr>
              <a:t> t</a:t>
            </a:r>
            <a:r>
              <a:rPr lang="en-IN" sz="1800" i="1" baseline="-25000" dirty="0">
                <a:latin typeface="Constantia" panose="02030602050306030303" pitchFamily="18" charset="0"/>
              </a:rPr>
              <a:t>1</a:t>
            </a:r>
            <a:r>
              <a:rPr lang="en-IN" sz="1800" i="1" dirty="0">
                <a:latin typeface="Constantia" panose="02030602050306030303" pitchFamily="18" charset="0"/>
              </a:rPr>
              <a:t> , t</a:t>
            </a:r>
            <a:r>
              <a:rPr lang="en-IN" sz="1800" i="1" baseline="-25000" dirty="0">
                <a:latin typeface="Constantia" panose="02030602050306030303" pitchFamily="18" charset="0"/>
              </a:rPr>
              <a:t>2</a:t>
            </a:r>
            <a:r>
              <a:rPr lang="en-IN" sz="1800" i="1" dirty="0">
                <a:latin typeface="Constantia" panose="02030602050306030303" pitchFamily="18" charset="0"/>
              </a:rPr>
              <a:t> , … , </a:t>
            </a:r>
            <a:r>
              <a:rPr lang="en-IN" sz="1800" i="1" dirty="0" err="1">
                <a:latin typeface="Constantia" panose="02030602050306030303" pitchFamily="18" charset="0"/>
              </a:rPr>
              <a:t>t</a:t>
            </a:r>
            <a:r>
              <a:rPr lang="en-IN" sz="1800" i="1" baseline="-25000" dirty="0" err="1">
                <a:latin typeface="Constantia" panose="02030602050306030303" pitchFamily="18" charset="0"/>
              </a:rPr>
              <a:t>k</a:t>
            </a:r>
            <a:r>
              <a:rPr lang="en-IN" sz="1800" i="1" dirty="0">
                <a:latin typeface="Constantia" panose="02030602050306030303" pitchFamily="18" charset="0"/>
              </a:rPr>
              <a:t> </a:t>
            </a:r>
            <a:r>
              <a:rPr lang="en-IN" sz="1800" dirty="0">
                <a:latin typeface="Constantia" panose="02030602050306030303" pitchFamily="18" charset="0"/>
              </a:rPr>
              <a:t>: target</a:t>
            </a:r>
          </a:p>
          <a:p>
            <a:pPr algn="l"/>
            <a:r>
              <a:rPr lang="en-IN" sz="1800" b="1" dirty="0">
                <a:latin typeface="Constantia" panose="02030602050306030303" pitchFamily="18" charset="0"/>
              </a:rPr>
              <a:t> </a:t>
            </a:r>
            <a:r>
              <a:rPr lang="el-GR" sz="1800" dirty="0">
                <a:latin typeface="Constantia" panose="02030602050306030303" pitchFamily="18" charset="0"/>
              </a:rPr>
              <a:t>π</a:t>
            </a:r>
            <a:r>
              <a:rPr lang="en-IN" sz="1800" i="1" baseline="-25000" dirty="0">
                <a:latin typeface="Constantia" panose="02030602050306030303" pitchFamily="18" charset="0"/>
              </a:rPr>
              <a:t>1</a:t>
            </a:r>
            <a:r>
              <a:rPr lang="en-IN" sz="1800" i="1" dirty="0">
                <a:latin typeface="Constantia" panose="02030602050306030303" pitchFamily="18" charset="0"/>
              </a:rPr>
              <a:t> , </a:t>
            </a:r>
            <a:r>
              <a:rPr lang="el-GR" sz="1800" i="1" dirty="0">
                <a:latin typeface="Constantia" panose="02030602050306030303" pitchFamily="18" charset="0"/>
              </a:rPr>
              <a:t>π</a:t>
            </a:r>
            <a:r>
              <a:rPr lang="en-IN" sz="1800" i="1" baseline="-25000" dirty="0">
                <a:latin typeface="Constantia" panose="02030602050306030303" pitchFamily="18" charset="0"/>
              </a:rPr>
              <a:t>2</a:t>
            </a:r>
            <a:r>
              <a:rPr lang="en-IN" sz="1800" i="1" dirty="0">
                <a:latin typeface="Constantia" panose="02030602050306030303" pitchFamily="18" charset="0"/>
              </a:rPr>
              <a:t> , … , </a:t>
            </a:r>
            <a:r>
              <a:rPr lang="el-GR" sz="1800" i="1" dirty="0">
                <a:latin typeface="Constantia" panose="02030602050306030303" pitchFamily="18" charset="0"/>
              </a:rPr>
              <a:t>π</a:t>
            </a:r>
            <a:r>
              <a:rPr lang="en-IN" sz="1800" i="1" baseline="-25000" dirty="0">
                <a:latin typeface="Constantia" panose="02030602050306030303" pitchFamily="18" charset="0"/>
              </a:rPr>
              <a:t>k</a:t>
            </a:r>
            <a:r>
              <a:rPr lang="en-IN" sz="1800" i="1" dirty="0">
                <a:latin typeface="Constantia" panose="02030602050306030303" pitchFamily="18" charset="0"/>
              </a:rPr>
              <a:t> </a:t>
            </a:r>
            <a:r>
              <a:rPr lang="en-IN" sz="1800" dirty="0">
                <a:latin typeface="Constantia" panose="02030602050306030303" pitchFamily="18" charset="0"/>
              </a:rPr>
              <a:t>: paths/policy</a:t>
            </a:r>
          </a:p>
          <a:p>
            <a:pPr algn="l"/>
            <a:r>
              <a:rPr lang="en-IN" sz="1800" dirty="0">
                <a:latin typeface="Constantia" panose="02030602050306030303" pitchFamily="18" charset="0"/>
              </a:rPr>
              <a:t> NP-hard : O(n</a:t>
            </a:r>
            <a:r>
              <a:rPr lang="en-IN" sz="1800" baseline="30000" dirty="0">
                <a:latin typeface="Constantia" panose="02030602050306030303" pitchFamily="18" charset="0"/>
              </a:rPr>
              <a:t>c</a:t>
            </a:r>
            <a:r>
              <a:rPr lang="en-IN" sz="1800" dirty="0">
                <a:latin typeface="Constantia" panose="02030602050306030303" pitchFamily="18" charset="0"/>
              </a:rPr>
              <a:t>) algorithm unlikely</a:t>
            </a:r>
            <a:br>
              <a:rPr lang="en-IN" sz="1800" b="1" dirty="0">
                <a:latin typeface="Constantia" panose="02030602050306030303" pitchFamily="18" charset="0"/>
              </a:rPr>
            </a:br>
            <a:endParaRPr lang="en-US" sz="1800" i="1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14B22A8-12A3-69C5-9367-FA0815264F5F}"/>
              </a:ext>
            </a:extLst>
          </p:cNvPr>
          <p:cNvSpPr txBox="1">
            <a:spLocks/>
          </p:cNvSpPr>
          <p:nvPr/>
        </p:nvSpPr>
        <p:spPr>
          <a:xfrm>
            <a:off x="7046976" y="4376927"/>
            <a:ext cx="4888992" cy="21965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800" b="1" u="sng" dirty="0">
                <a:latin typeface="Constantia" panose="02030602050306030303" pitchFamily="18" charset="0"/>
              </a:rPr>
              <a:t>Neural Combinatorial Optimization (NCO)</a:t>
            </a:r>
            <a:endParaRPr lang="en-IN" sz="1800" dirty="0">
              <a:latin typeface="Constantia" panose="02030602050306030303" pitchFamily="18" charset="0"/>
            </a:endParaRPr>
          </a:p>
          <a:p>
            <a:pPr algn="l"/>
            <a:r>
              <a:rPr lang="en-IN" sz="1800" dirty="0">
                <a:latin typeface="Constantia" panose="02030602050306030303" pitchFamily="18" charset="0"/>
              </a:rPr>
              <a:t>CO : mathematical problem whose solution space is a set of discrete choices</a:t>
            </a:r>
          </a:p>
          <a:p>
            <a:pPr algn="l"/>
            <a:r>
              <a:rPr lang="en-IN" sz="1800" dirty="0">
                <a:latin typeface="Constantia" panose="02030602050306030303" pitchFamily="18" charset="0"/>
              </a:rPr>
              <a:t>NCO : neural networks learns the problem and given an output from the solution space</a:t>
            </a:r>
            <a:br>
              <a:rPr lang="en-IN" sz="1800" b="1" dirty="0">
                <a:latin typeface="Constantia" panose="02030602050306030303" pitchFamily="18" charset="0"/>
              </a:rPr>
            </a:br>
            <a:endParaRPr lang="en-US" sz="1800" i="1" dirty="0">
              <a:latin typeface="Constantia" panose="02030602050306030303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D8AB58-DFCF-64DE-5350-C49337841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9" y="1035653"/>
            <a:ext cx="6015978" cy="2951081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9E64796-B076-E01A-D8E5-42E844129678}"/>
              </a:ext>
            </a:extLst>
          </p:cNvPr>
          <p:cNvSpPr/>
          <p:nvPr/>
        </p:nvSpPr>
        <p:spPr>
          <a:xfrm>
            <a:off x="7745829" y="2002124"/>
            <a:ext cx="1347537" cy="74252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11B613-BCBC-74A4-8AB4-96BF4399AF31}"/>
              </a:ext>
            </a:extLst>
          </p:cNvPr>
          <p:cNvSpPr txBox="1"/>
          <p:nvPr/>
        </p:nvSpPr>
        <p:spPr>
          <a:xfrm>
            <a:off x="7681378" y="2111774"/>
            <a:ext cx="1521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Constantia" panose="02030602050306030303" pitchFamily="18" charset="0"/>
              </a:rPr>
              <a:t>Solver for Problem P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15EAE0-D7EA-BDCE-7624-3EDA21E21425}"/>
              </a:ext>
            </a:extLst>
          </p:cNvPr>
          <p:cNvCxnSpPr>
            <a:cxnSpLocks/>
            <a:stCxn id="23" idx="3"/>
            <a:endCxn id="11" idx="1"/>
          </p:cNvCxnSpPr>
          <p:nvPr/>
        </p:nvCxnSpPr>
        <p:spPr>
          <a:xfrm>
            <a:off x="7214635" y="2373384"/>
            <a:ext cx="5311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EF17D43-9FC7-0DEC-9ADD-2B989FB8494C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9093366" y="2373385"/>
            <a:ext cx="722438" cy="15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DE70C9C-2239-6D67-4673-604BCB138959}"/>
              </a:ext>
            </a:extLst>
          </p:cNvPr>
          <p:cNvSpPr txBox="1"/>
          <p:nvPr/>
        </p:nvSpPr>
        <p:spPr>
          <a:xfrm>
            <a:off x="6919361" y="2188718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onstantia" panose="02030602050306030303" pitchFamily="18" charset="0"/>
              </a:rPr>
              <a:t>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8417DA-7146-73A4-9A62-20CB7A30F378}"/>
              </a:ext>
            </a:extLst>
          </p:cNvPr>
          <p:cNvSpPr txBox="1"/>
          <p:nvPr/>
        </p:nvSpPr>
        <p:spPr>
          <a:xfrm>
            <a:off x="9779512" y="2188718"/>
            <a:ext cx="35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onstantia" panose="02030602050306030303" pitchFamily="18" charset="0"/>
              </a:rPr>
              <a:t>y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ED356EB-21BC-EB96-F10C-A50F75A9C9BA}"/>
              </a:ext>
            </a:extLst>
          </p:cNvPr>
          <p:cNvCxnSpPr>
            <a:cxnSpLocks/>
          </p:cNvCxnSpPr>
          <p:nvPr/>
        </p:nvCxnSpPr>
        <p:spPr>
          <a:xfrm>
            <a:off x="10747782" y="1606733"/>
            <a:ext cx="914400" cy="914400"/>
          </a:xfrm>
          <a:prstGeom prst="line">
            <a:avLst/>
          </a:prstGeom>
          <a:ln w="28575">
            <a:solidFill>
              <a:srgbClr val="92D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Heptagon 25">
            <a:extLst>
              <a:ext uri="{FF2B5EF4-FFF2-40B4-BE49-F238E27FC236}">
                <a16:creationId xmlns:a16="http://schemas.microsoft.com/office/drawing/2014/main" id="{D3A08BF7-45F5-0321-CF00-887D68633E35}"/>
              </a:ext>
            </a:extLst>
          </p:cNvPr>
          <p:cNvSpPr/>
          <p:nvPr/>
        </p:nvSpPr>
        <p:spPr>
          <a:xfrm>
            <a:off x="9519399" y="1410526"/>
            <a:ext cx="2301560" cy="1766871"/>
          </a:xfrm>
          <a:prstGeom prst="heptagon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A7E81E-867E-B242-4C04-20B63CCE2BAA}"/>
              </a:ext>
            </a:extLst>
          </p:cNvPr>
          <p:cNvSpPr txBox="1"/>
          <p:nvPr/>
        </p:nvSpPr>
        <p:spPr>
          <a:xfrm>
            <a:off x="11200242" y="1660594"/>
            <a:ext cx="863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onstantia" panose="02030602050306030303" pitchFamily="18" charset="0"/>
              </a:rPr>
              <a:t>y</a:t>
            </a:r>
            <a:r>
              <a:rPr lang="en-IN" baseline="-25000" dirty="0">
                <a:latin typeface="Constantia" panose="02030602050306030303" pitchFamily="18" charset="0"/>
              </a:rPr>
              <a:t>optimal</a:t>
            </a:r>
            <a:endParaRPr lang="en-IN" dirty="0">
              <a:latin typeface="Constantia" panose="02030602050306030303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2DE7EB-2671-EC06-7B25-30A28201C816}"/>
              </a:ext>
            </a:extLst>
          </p:cNvPr>
          <p:cNvSpPr txBox="1"/>
          <p:nvPr/>
        </p:nvSpPr>
        <p:spPr>
          <a:xfrm>
            <a:off x="9878115" y="21518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06F6C16-5441-47D4-AE9E-DC6A4D61F539}"/>
              </a:ext>
            </a:extLst>
          </p:cNvPr>
          <p:cNvCxnSpPr>
            <a:cxnSpLocks/>
          </p:cNvCxnSpPr>
          <p:nvPr/>
        </p:nvCxnSpPr>
        <p:spPr>
          <a:xfrm>
            <a:off x="10011464" y="2388583"/>
            <a:ext cx="1026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6ED379B-F4FB-26E1-DB0B-14D903AD38E1}"/>
              </a:ext>
            </a:extLst>
          </p:cNvPr>
          <p:cNvSpPr txBox="1"/>
          <p:nvPr/>
        </p:nvSpPr>
        <p:spPr>
          <a:xfrm>
            <a:off x="11073051" y="2217362"/>
            <a:ext cx="69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nstantia" panose="02030602050306030303" pitchFamily="18" charset="0"/>
              </a:rPr>
              <a:t>y</a:t>
            </a:r>
            <a:r>
              <a:rPr lang="en-IN" baseline="-25000" dirty="0">
                <a:latin typeface="Constantia" panose="02030602050306030303" pitchFamily="18" charset="0"/>
              </a:rPr>
              <a:t>better</a:t>
            </a:r>
            <a:endParaRPr lang="en-IN" dirty="0">
              <a:latin typeface="Constantia" panose="02030602050306030303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5DAE61-06EA-FD71-4F8C-E57DE25FED28}"/>
              </a:ext>
            </a:extLst>
          </p:cNvPr>
          <p:cNvSpPr txBox="1"/>
          <p:nvPr/>
        </p:nvSpPr>
        <p:spPr>
          <a:xfrm>
            <a:off x="9519399" y="3214314"/>
            <a:ext cx="23015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rgbClr val="7030A0"/>
                </a:solidFill>
                <a:latin typeface="Constantia" panose="02030602050306030303" pitchFamily="18" charset="0"/>
              </a:rPr>
              <a:t>Space of all possible solutions for P when input is 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258EC5-F984-F3DA-D8AC-EA6830B3FFBB}"/>
              </a:ext>
            </a:extLst>
          </p:cNvPr>
          <p:cNvSpPr txBox="1"/>
          <p:nvPr/>
        </p:nvSpPr>
        <p:spPr>
          <a:xfrm>
            <a:off x="9087720" y="2150247"/>
            <a:ext cx="7280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inference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59FB32-C9D7-DC02-9769-596D4763AF64}"/>
              </a:ext>
            </a:extLst>
          </p:cNvPr>
          <p:cNvSpPr txBox="1"/>
          <p:nvPr/>
        </p:nvSpPr>
        <p:spPr>
          <a:xfrm>
            <a:off x="6942512" y="2801335"/>
            <a:ext cx="28732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</a:rPr>
              <a:t>Solver is an algorithm when discussing CO.</a:t>
            </a:r>
            <a:br>
              <a:rPr lang="en-IN" sz="1100" dirty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</a:rPr>
            </a:b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</a:rPr>
              <a:t>It is a trained NN when discussing NCO.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4D60A83-F368-828F-68CB-A10AA1BAF6A2}"/>
              </a:ext>
            </a:extLst>
          </p:cNvPr>
          <p:cNvSpPr txBox="1"/>
          <p:nvPr/>
        </p:nvSpPr>
        <p:spPr>
          <a:xfrm>
            <a:off x="7070158" y="2140418"/>
            <a:ext cx="7072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100" dirty="0"/>
              <a:t>graph</a:t>
            </a:r>
            <a:br>
              <a:rPr lang="en-IN" sz="1100" dirty="0"/>
            </a:br>
            <a:r>
              <a:rPr lang="en-IN" sz="1100" dirty="0"/>
              <a:t>encoding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D108B9A-5320-69F1-2026-A627A1C5674E}"/>
              </a:ext>
            </a:extLst>
          </p:cNvPr>
          <p:cNvSpPr txBox="1"/>
          <p:nvPr/>
        </p:nvSpPr>
        <p:spPr>
          <a:xfrm>
            <a:off x="10063629" y="2155807"/>
            <a:ext cx="7649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100" dirty="0"/>
              <a:t>geometric</a:t>
            </a:r>
            <a:br>
              <a:rPr lang="en-IN" sz="1100" dirty="0"/>
            </a:br>
            <a:r>
              <a:rPr lang="en-IN" sz="1100" dirty="0"/>
              <a:t>algorithm</a:t>
            </a:r>
          </a:p>
        </p:txBody>
      </p:sp>
    </p:spTree>
    <p:extLst>
      <p:ext uri="{BB962C8B-B14F-4D97-AF65-F5344CB8AC3E}">
        <p14:creationId xmlns:p14="http://schemas.microsoft.com/office/powerpoint/2010/main" val="830034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81A9C9-ECF0-6E13-DB5C-5CA121A885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5760" y="149352"/>
                <a:ext cx="11460480" cy="655929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IN" sz="1800" b="1" u="sng" dirty="0">
                    <a:latin typeface="Constantia" panose="02030602050306030303" pitchFamily="18" charset="0"/>
                  </a:rPr>
                  <a:t>Question</a:t>
                </a:r>
                <a:br>
                  <a:rPr lang="en-IN" sz="1800" b="1" dirty="0">
                    <a:latin typeface="Constantia" panose="02030602050306030303" pitchFamily="18" charset="0"/>
                  </a:rPr>
                </a:br>
                <a:r>
                  <a:rPr lang="en-IN" sz="1800" dirty="0">
                    <a:latin typeface="Constantia" panose="02030602050306030303" pitchFamily="18" charset="0"/>
                  </a:rPr>
                  <a:t>Can we train GNNs to obtain better inference (solution) for MAPF on Graphs using Geometric NCO approach?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IN" sz="1800" b="1" u="sng" dirty="0">
                    <a:latin typeface="Constantia" panose="02030602050306030303" pitchFamily="18" charset="0"/>
                  </a:rPr>
                  <a:t>Base Papers</a:t>
                </a:r>
                <a:r>
                  <a:rPr lang="en-IN" sz="1800" b="1" dirty="0">
                    <a:latin typeface="Constantia" panose="02030602050306030303" pitchFamily="18" charset="0"/>
                  </a:rPr>
                  <a:t> 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600"/>
                  </a:spcBef>
                  <a:buAutoNum type="arabicPeriod"/>
                </a:pPr>
                <a:r>
                  <a:rPr lang="en-US" sz="1800" b="1" dirty="0">
                    <a:latin typeface="Constantia" panose="02030602050306030303" pitchFamily="18" charset="0"/>
                  </a:rPr>
                  <a:t>Geometric Algorithms for Neural Combinatorial Optimization with Constraints (NeurIPS 2025)</a:t>
                </a:r>
                <a:br>
                  <a:rPr lang="en-US" sz="1800" b="1" dirty="0">
                    <a:latin typeface="Constantia" panose="02030602050306030303" pitchFamily="18" charset="0"/>
                  </a:rPr>
                </a:br>
                <a:r>
                  <a:rPr lang="en-US" sz="1800" i="1" dirty="0">
                    <a:latin typeface="Constantia" panose="02030602050306030303" pitchFamily="18" charset="0"/>
                  </a:rPr>
                  <a:t>Nikolaos Karalias, Akbar Rafiey, Yifei Xu, Zhishang Luo, Behrooz Tahmasebi, Connie Jiang, Stefanie Jegelka</a:t>
                </a:r>
                <a:endParaRPr lang="en-IN" sz="1800" i="1" dirty="0">
                  <a:latin typeface="Constantia" panose="02030602050306030303" pitchFamily="18" charset="0"/>
                </a:endParaRPr>
              </a:p>
              <a:p>
                <a:pPr marL="342900" indent="-342900">
                  <a:lnSpc>
                    <a:spcPct val="100000"/>
                  </a:lnSpc>
                  <a:spcBef>
                    <a:spcPts val="600"/>
                  </a:spcBef>
                  <a:buAutoNum type="arabicPeriod"/>
                </a:pPr>
                <a:r>
                  <a:rPr lang="en-US" sz="1800" b="1" i="1" dirty="0">
                    <a:latin typeface="Constantia" panose="02030602050306030303" pitchFamily="18" charset="0"/>
                  </a:rPr>
                  <a:t>Multi-Agent Pathfinding: Definitions, Variants, and Benchmarks (SoCS 2019)</a:t>
                </a:r>
                <a:br>
                  <a:rPr lang="en-US" sz="1800" b="1" i="1" dirty="0">
                    <a:latin typeface="Constantia" panose="02030602050306030303" pitchFamily="18" charset="0"/>
                  </a:rPr>
                </a:br>
                <a:r>
                  <a:rPr lang="en-US" sz="1800" i="1" dirty="0">
                    <a:latin typeface="Constantia" panose="02030602050306030303" pitchFamily="18" charset="0"/>
                  </a:rPr>
                  <a:t>Roni Stern, Nathan R. Sturtevant, Ariel Felner, Sven Koenig, Hang Ma, Thayne T. Walker, Jiaoyang Li, Dor Atzmon, Liron Cohen, T. K. Satish Kumar, Eli Boyarski, Roman Bart ́</a:t>
                </a:r>
                <a:r>
                  <a:rPr lang="en-US" sz="1800" i="1" dirty="0" err="1">
                    <a:latin typeface="Constantia" panose="02030602050306030303" pitchFamily="18" charset="0"/>
                  </a:rPr>
                  <a:t>ak</a:t>
                </a:r>
                <a:endParaRPr lang="en-US" sz="1800" i="1" dirty="0">
                  <a:latin typeface="Constantia" panose="02030602050306030303" pitchFamily="18" charset="0"/>
                </a:endParaRPr>
              </a:p>
              <a:p>
                <a:pPr marL="342900" indent="-342900">
                  <a:lnSpc>
                    <a:spcPct val="10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1800" b="1" i="1" dirty="0">
                    <a:latin typeface="Constantia" panose="02030602050306030303" pitchFamily="18" charset="0"/>
                  </a:rPr>
                  <a:t>Graph attention networks based multi-agent path finding via temporal-spatial information aggregation (PLOS One 2025)</a:t>
                </a:r>
                <a:br>
                  <a:rPr lang="en-US" sz="1800" b="1" i="1" dirty="0">
                    <a:latin typeface="Constantia" panose="02030602050306030303" pitchFamily="18" charset="0"/>
                  </a:rPr>
                </a:br>
                <a:r>
                  <a:rPr lang="en-US" sz="1800" i="1" dirty="0">
                    <a:latin typeface="Constantia" panose="02030602050306030303" pitchFamily="18" charset="0"/>
                  </a:rPr>
                  <a:t>Qingling Zhang, Peng Wang, Cui Ni, Xianchang Liu</a:t>
                </a:r>
                <a:endParaRPr lang="en-US" sz="1800" b="1" i="1" dirty="0">
                  <a:latin typeface="Constantia" panose="02030602050306030303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1800" b="1" u="sng" dirty="0">
                    <a:latin typeface="Constantia" panose="02030602050306030303" pitchFamily="18" charset="0"/>
                  </a:rPr>
                  <a:t>Current Scenario</a:t>
                </a:r>
                <a:br>
                  <a:rPr lang="en-US" sz="1800" b="1" u="sng" dirty="0">
                    <a:latin typeface="Constantia" panose="02030602050306030303" pitchFamily="18" charset="0"/>
                  </a:rPr>
                </a:br>
                <a:r>
                  <a:rPr lang="en-US" sz="1800" dirty="0">
                    <a:latin typeface="Constantia" panose="02030602050306030303" pitchFamily="18" charset="0"/>
                  </a:rPr>
                  <a:t>Extended A* , Conflict Based Searches, Generalized RL algorithms</a:t>
                </a:r>
                <a:endParaRPr lang="en-US" sz="1800" b="1" u="sng" dirty="0">
                  <a:latin typeface="Constantia" panose="02030602050306030303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1800" b="1" u="sng" dirty="0">
                    <a:latin typeface="Constantia" panose="02030602050306030303" pitchFamily="18" charset="0"/>
                  </a:rPr>
                  <a:t>Plan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1800" dirty="0">
                    <a:latin typeface="Constantia" panose="02030602050306030303" pitchFamily="18" charset="0"/>
                  </a:rPr>
                  <a:t>Specific variation of MAPF </a:t>
                </a:r>
                <a14:m>
                  <m:oMath xmlns:m="http://schemas.openxmlformats.org/officeDocument/2006/math">
                    <m:r>
                      <a:rPr lang="en-US" sz="1800" i="0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1800" dirty="0">
                    <a:latin typeface="Constantia" panose="02030602050306030303" pitchFamily="18" charset="0"/>
                  </a:rPr>
                  <a:t>Obtain a structure from the solution space </a:t>
                </a:r>
                <a14:m>
                  <m:oMath xmlns:m="http://schemas.openxmlformats.org/officeDocument/2006/math">
                    <m:r>
                      <a:rPr lang="en-US" sz="1800" i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>
                    <a:latin typeface="Constantia" panose="02030602050306030303" pitchFamily="18" charset="0"/>
                    <a:sym typeface="Wingdings" panose="05000000000000000000" pitchFamily="2" charset="2"/>
                  </a:rPr>
                  <a:t> Design a good objective function</a:t>
                </a:r>
                <a:br>
                  <a:rPr lang="en-US" sz="1800" dirty="0">
                    <a:latin typeface="Constantia" panose="02030602050306030303" pitchFamily="18" charset="0"/>
                    <a:sym typeface="Wingdings" panose="05000000000000000000" pitchFamily="2" charset="2"/>
                  </a:rPr>
                </a:br>
                <a:r>
                  <a:rPr lang="en-US" sz="1800" dirty="0">
                    <a:latin typeface="Constantia" panose="02030602050306030303" pitchFamily="18" charset="0"/>
                    <a:sym typeface="Wingdings" panose="05000000000000000000" pitchFamily="2" charset="2"/>
                  </a:rPr>
                  <a:t>	</a:t>
                </a:r>
                <a:r>
                  <a:rPr lang="en-US" sz="1800" dirty="0">
                    <a:latin typeface="Constantia" panose="02030602050306030303" pitchFamily="18" charset="0"/>
                  </a:rPr>
                  <a:t>(Sept 30</a:t>
                </a:r>
                <a:r>
                  <a:rPr lang="en-US" sz="1800" baseline="30000" dirty="0">
                    <a:latin typeface="Constantia" panose="02030602050306030303" pitchFamily="18" charset="0"/>
                  </a:rPr>
                  <a:t>th</a:t>
                </a:r>
                <a:r>
                  <a:rPr lang="en-US" sz="1800" dirty="0">
                    <a:latin typeface="Constantia" panose="02030602050306030303" pitchFamily="18" charset="0"/>
                  </a:rPr>
                  <a:t>)			 (Sept 30</a:t>
                </a:r>
                <a:r>
                  <a:rPr lang="en-US" sz="1800" baseline="30000" dirty="0">
                    <a:latin typeface="Constantia" panose="02030602050306030303" pitchFamily="18" charset="0"/>
                  </a:rPr>
                  <a:t>th</a:t>
                </a:r>
                <a:r>
                  <a:rPr lang="en-US" sz="1800" dirty="0">
                    <a:latin typeface="Constantia" panose="02030602050306030303" pitchFamily="18" charset="0"/>
                  </a:rPr>
                  <a:t>)			(Sept 30</a:t>
                </a:r>
                <a:r>
                  <a:rPr lang="en-US" sz="1800" baseline="30000" dirty="0">
                    <a:latin typeface="Constantia" panose="02030602050306030303" pitchFamily="18" charset="0"/>
                  </a:rPr>
                  <a:t>th</a:t>
                </a:r>
                <a:r>
                  <a:rPr lang="en-US" sz="1800" dirty="0">
                    <a:latin typeface="Constantia" panose="02030602050306030303" pitchFamily="18" charset="0"/>
                  </a:rPr>
                  <a:t>)</a:t>
                </a:r>
                <a:endParaRPr lang="en-IN" sz="18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800" i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>
                    <a:latin typeface="Constantia" panose="02030602050306030303" pitchFamily="18" charset="0"/>
                  </a:rPr>
                  <a:t> Train a GNN </a:t>
                </a:r>
                <a14:m>
                  <m:oMath xmlns:m="http://schemas.openxmlformats.org/officeDocument/2006/math">
                    <m:r>
                      <a:rPr lang="en-US" sz="1800" i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>
                    <a:latin typeface="Constantia" panose="02030602050306030303" pitchFamily="18" charset="0"/>
                  </a:rPr>
                  <a:t> Benchmark (Networks, Heuristic models, Algorithms)</a:t>
                </a:r>
                <a:br>
                  <a:rPr lang="en-US" sz="1800" dirty="0">
                    <a:latin typeface="Constantia" panose="02030602050306030303" pitchFamily="18" charset="0"/>
                  </a:rPr>
                </a:br>
                <a:r>
                  <a:rPr lang="en-US" sz="1800" dirty="0">
                    <a:latin typeface="Constantia" panose="02030602050306030303" pitchFamily="18" charset="0"/>
                  </a:rPr>
                  <a:t>	 (Oct 30</a:t>
                </a:r>
                <a:r>
                  <a:rPr lang="en-US" sz="1800" baseline="30000" dirty="0">
                    <a:latin typeface="Constantia" panose="02030602050306030303" pitchFamily="18" charset="0"/>
                  </a:rPr>
                  <a:t>th</a:t>
                </a:r>
                <a:r>
                  <a:rPr lang="en-US" sz="1800" dirty="0">
                    <a:latin typeface="Constantia" panose="02030602050306030303" pitchFamily="18" charset="0"/>
                  </a:rPr>
                  <a:t>)</a:t>
                </a:r>
                <a:endParaRPr lang="en-US" sz="1800" b="1" u="sng" dirty="0">
                  <a:latin typeface="Constantia" panose="02030602050306030303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1800" b="1" u="sng" dirty="0">
                    <a:latin typeface="Constantia" panose="02030602050306030303" pitchFamily="18" charset="0"/>
                  </a:rPr>
                  <a:t>Data Set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600"/>
                  </a:spcBef>
                  <a:buAutoNum type="arabicPeriod"/>
                </a:pPr>
                <a:r>
                  <a:rPr lang="en-US" sz="1800" dirty="0">
                    <a:latin typeface="Constantia" panose="02030602050306030303" pitchFamily="18" charset="0"/>
                  </a:rPr>
                  <a:t>Synthetic or randomly generated graphs.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600"/>
                  </a:spcBef>
                  <a:buAutoNum type="arabicPeriod"/>
                </a:pPr>
                <a:r>
                  <a:rPr lang="en-US" sz="1800" dirty="0">
                    <a:latin typeface="Constantia" panose="02030602050306030303" pitchFamily="18" charset="0"/>
                  </a:rPr>
                  <a:t>Real road networks (SNAP, movingai, zenodo)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81A9C9-ECF0-6E13-DB5C-5CA121A885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5760" y="149352"/>
                <a:ext cx="11460480" cy="6559296"/>
              </a:xfrm>
              <a:blipFill>
                <a:blip r:embed="rId2"/>
                <a:stretch>
                  <a:fillRect l="-426" t="-558" b="-34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4191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408</Words>
  <Application>Microsoft Office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Constantia</vt:lpstr>
      <vt:lpstr>Office Theme</vt:lpstr>
      <vt:lpstr>Neural Combinatorial Optimization for Multi Agent Path Finding on Graphs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Girija Sankar Ray</dc:creator>
  <cp:lastModifiedBy>Girija Sankar Ray</cp:lastModifiedBy>
  <cp:revision>2</cp:revision>
  <dcterms:created xsi:type="dcterms:W3CDTF">2026-09-02T12:06:17Z</dcterms:created>
  <dcterms:modified xsi:type="dcterms:W3CDTF">2026-09-02T16:18:53Z</dcterms:modified>
</cp:coreProperties>
</file>